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ena-poster.jpg"/>
          <p:cNvPicPr>
            <a:picLocks noChangeAspect="1"/>
          </p:cNvPicPr>
          <p:nvPr/>
        </p:nvPicPr>
        <p:blipFill>
          <a:blip r:embed="rId2"/>
          <a:srcRect l="22501" r="22501"/>
          <a:stretch>
            <a:fillRect/>
          </a:stretch>
        </p:blipFill>
        <p:spPr>
          <a:xfrm>
            <a:off x="5486400" y="0"/>
            <a:ext cx="67052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49240" y="0"/>
            <a:ext cx="1417320" cy="6858000"/>
          </a:xfrm>
          <a:prstGeom prst="rect">
            <a:avLst/>
          </a:prstGeom>
          <a:solidFill>
            <a:srgbClr val="080B10">
              <a:alpha val="75000"/>
            </a:srgbClr>
          </a:solidFill>
          <a:ln>
            <a:solidFill>
              <a:srgbClr val="080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080B10">
              <a:alpha val="45000"/>
            </a:srgbClr>
          </a:solidFill>
          <a:ln>
            <a:solidFill>
              <a:srgbClr val="080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A9CFF"/>
          </a:solidFill>
          <a:ln>
            <a:solidFill>
              <a:srgbClr val="4A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A9CFF"/>
                </a:solidFill>
                <a:latin typeface="Aptos Mono"/>
              </a:rPr>
              <a:t>ROBOT GYM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548640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5F7FA"/>
                </a:solidFill>
                <a:latin typeface="Aptos"/>
              </a:rPr>
              <a:t>Competitive
infrastructure
for embodied 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913632"/>
            <a:ext cx="4297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6AFBE"/>
                </a:solidFill>
                <a:latin typeface="Aptos"/>
              </a:rPr>
              <a:t>A live 1v1 arena where robot policies compete, humans intervene, and every action becomes evaluation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806440"/>
            <a:ext cx="1572768" cy="292608"/>
          </a:xfrm>
          <a:prstGeom prst="roundRect">
            <a:avLst>
              <a:gd name="adj" fmla="val 12000"/>
            </a:avLst>
          </a:prstGeom>
          <a:solidFill>
            <a:srgbClr val="4A9CFF"/>
          </a:solidFill>
          <a:ln>
            <a:solidFill>
              <a:srgbClr val="4A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61303"/>
            <a:ext cx="15727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0B10"/>
                </a:solidFill>
                <a:latin typeface="Aptos Mono"/>
              </a:rPr>
              <a:t>INVESTOR BRIEF •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5879592"/>
            <a:ext cx="2514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5F7FA"/>
                </a:solidFill>
                <a:latin typeface="Aptos Mono"/>
              </a:rPr>
              <a:t>KAUSHIK SIVAKUMAR  /  FOUNDER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6327648"/>
            <a:ext cx="2029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5F7FA"/>
                </a:solidFill>
                <a:latin typeface="Aptos Mono"/>
              </a:rPr>
              <a:t>ACTUAL PRODUCT ARENA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4B38"/>
                </a:solidFill>
                <a:latin typeface="Aptos Mono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5F7FA"/>
                </a:solidFill>
                <a:latin typeface="Aptos"/>
              </a:rPr>
              <a:t>Robotics demos prove possibility.
They rarely prove reliability.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2286000"/>
            <a:ext cx="7040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6AFBE"/>
                </a:solidFill>
                <a:latin typeface="Aptos"/>
              </a:rPr>
              <a:t>The missing layer is not another model. It is a credible way to test models under pressure.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063240"/>
            <a:ext cx="10607040" cy="9144"/>
          </a:xfrm>
          <a:prstGeom prst="rect">
            <a:avLst/>
          </a:prstGeom>
          <a:solidFill>
            <a:srgbClr val="27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01568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4B38"/>
                </a:solidFill>
                <a:latin typeface="Aptos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3858768"/>
            <a:ext cx="3337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5F7FA"/>
                </a:solidFill>
                <a:latin typeface="Aptos"/>
              </a:rPr>
              <a:t>Success hides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4480560"/>
            <a:ext cx="3246120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6AFBE"/>
                </a:solidFill>
                <a:latin typeface="Aptos"/>
              </a:rPr>
              <a:t>Polished demos compress retries, recoveries, latency and perception misses into one highlight.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6824" y="3401568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4B38"/>
                </a:solidFill>
                <a:latin typeface="Aptos Mon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6824" y="3858768"/>
            <a:ext cx="3337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5F7FA"/>
                </a:solidFill>
                <a:latin typeface="Aptos"/>
              </a:rPr>
              <a:t>Benchmarks lack stakes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6824" y="4480560"/>
            <a:ext cx="3246120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6AFBE"/>
                </a:solidFill>
                <a:latin typeface="Aptos"/>
              </a:rPr>
              <a:t>Static leaderboards reveal scores—not how policies behave in a live, adversarial scenario.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3401568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4B38"/>
                </a:solidFill>
                <a:latin typeface="Aptos Mono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3858768"/>
            <a:ext cx="3337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5F7FA"/>
                </a:solidFill>
                <a:latin typeface="Aptos"/>
              </a:rPr>
              <a:t>Hardware iteration is costly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4480560"/>
            <a:ext cx="3246120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6AFBE"/>
                </a:solidFill>
                <a:latin typeface="Aptos"/>
              </a:rPr>
              <a:t>Every physical test consumes operator time, robot time and safety margin.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79008"/>
            <a:ext cx="11137392" cy="475488"/>
          </a:xfrm>
          <a:prstGeom prst="roundRect">
            <a:avLst>
              <a:gd name="adj" fmla="val 12000"/>
            </a:avLst>
          </a:prstGeom>
          <a:solidFill>
            <a:srgbClr val="111722"/>
          </a:solidFill>
          <a:ln>
            <a:solidFill>
              <a:srgbClr val="111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907024"/>
            <a:ext cx="10652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4A9CFF"/>
                </a:solidFill>
                <a:latin typeface="Aptos"/>
              </a:rPr>
              <a:t>Opportunity: </a:t>
            </a:r>
            <a:r>
              <a:rPr sz="1300" b="0">
                <a:solidFill>
                  <a:srgbClr val="F5F7FA"/>
                </a:solidFill>
                <a:latin typeface="Aptos"/>
              </a:rPr>
              <a:t>turn evaluation into something rigorous enough for labs—and compelling enough for an audience.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" y="6556248"/>
            <a:ext cx="10881360" cy="9144"/>
          </a:xfrm>
          <a:prstGeom prst="rect">
            <a:avLst/>
          </a:prstGeom>
          <a:solidFill>
            <a:srgbClr val="27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60196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97386"/>
                </a:solidFill>
                <a:latin typeface="Aptos Mono"/>
              </a:rPr>
              <a:t>ROBOT GYM  /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60196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97386"/>
                </a:solidFill>
                <a:latin typeface="Aptos Mono"/>
              </a:rPr>
              <a:t>PROBLEM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5992" y="660196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5F7FA"/>
                </a:solidFill>
                <a:latin typeface="Apto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ena-poster.jpg"/>
          <p:cNvPicPr>
            <a:picLocks noChangeAspect="1"/>
          </p:cNvPicPr>
          <p:nvPr/>
        </p:nvPicPr>
        <p:blipFill>
          <a:blip r:embed="rId2"/>
          <a:srcRect l="23188" r="23188"/>
          <a:stretch>
            <a:fillRect/>
          </a:stretch>
        </p:blipFill>
        <p:spPr>
          <a:xfrm>
            <a:off x="0" y="0"/>
            <a:ext cx="6537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37960" cy="6858000"/>
          </a:xfrm>
          <a:prstGeom prst="rect">
            <a:avLst/>
          </a:prstGeom>
          <a:solidFill>
            <a:srgbClr val="080B10">
              <a:alpha val="32000"/>
            </a:srgbClr>
          </a:solidFill>
          <a:ln>
            <a:solidFill>
              <a:srgbClr val="080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80760" y="0"/>
            <a:ext cx="685800" cy="6858000"/>
          </a:xfrm>
          <a:prstGeom prst="rect">
            <a:avLst/>
          </a:prstGeom>
          <a:solidFill>
            <a:srgbClr val="080B10">
              <a:alpha val="80000"/>
            </a:srgbClr>
          </a:solidFill>
          <a:ln>
            <a:solidFill>
              <a:srgbClr val="080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31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A9CFF"/>
                </a:solidFill>
                <a:latin typeface="Aptos Mono"/>
              </a:rPr>
              <a:t>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49377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7FA"/>
                </a:solidFill>
                <a:latin typeface="Aptos"/>
              </a:rPr>
              <a:t>A live arena for
robot intelligence.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2386584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7FA"/>
                </a:solidFill>
                <a:latin typeface="Aptos"/>
              </a:rPr>
              <a:t>Same task. Same physics. Different minds.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2788920"/>
            <a:ext cx="4526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6AFBE"/>
                </a:solidFill>
                <a:latin typeface="Aptos"/>
              </a:rPr>
              <a:t>Policies and people race Unitree G1 robots to acquire, carry and deliver a payload.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3822191"/>
            <a:ext cx="4160520" cy="420624"/>
          </a:xfrm>
          <a:prstGeom prst="roundRect">
            <a:avLst>
              <a:gd name="adj" fmla="val 12000"/>
            </a:avLst>
          </a:prstGeom>
          <a:solidFill>
            <a:srgbClr val="111722"/>
          </a:solidFill>
          <a:ln>
            <a:solidFill>
              <a:srgbClr val="111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931920"/>
            <a:ext cx="1143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DC6FF"/>
                </a:solidFill>
                <a:latin typeface="Aptos Mono"/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4248" y="3931920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97386"/>
                </a:solidFill>
                <a:latin typeface="Aptos Mono"/>
              </a:rPr>
              <a:t>VS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931920"/>
            <a:ext cx="1600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DC6FF"/>
                </a:solidFill>
                <a:latin typeface="Aptos Mono"/>
              </a:rPr>
              <a:t>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4443983"/>
            <a:ext cx="4160520" cy="420624"/>
          </a:xfrm>
          <a:prstGeom prst="roundRect">
            <a:avLst>
              <a:gd name="adj" fmla="val 12000"/>
            </a:avLst>
          </a:prstGeom>
          <a:solidFill>
            <a:srgbClr val="111722"/>
          </a:solidFill>
          <a:ln>
            <a:solidFill>
              <a:srgbClr val="111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553712"/>
            <a:ext cx="1143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DC6FF"/>
                </a:solidFill>
                <a:latin typeface="Aptos Mono"/>
              </a:rPr>
              <a:t>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4248" y="4553712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97386"/>
                </a:solidFill>
                <a:latin typeface="Aptos Mono"/>
              </a:rPr>
              <a:t>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553712"/>
            <a:ext cx="1600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4B38"/>
                </a:solidFill>
                <a:latin typeface="Aptos Mono"/>
              </a:rPr>
              <a:t>HUMAN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5065776"/>
            <a:ext cx="4160520" cy="420624"/>
          </a:xfrm>
          <a:prstGeom prst="roundRect">
            <a:avLst>
              <a:gd name="adj" fmla="val 12000"/>
            </a:avLst>
          </a:prstGeom>
          <a:solidFill>
            <a:srgbClr val="111722"/>
          </a:solidFill>
          <a:ln>
            <a:solidFill>
              <a:srgbClr val="111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175504"/>
            <a:ext cx="1143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DC6FF"/>
                </a:solidFill>
                <a:latin typeface="Aptos Mono"/>
              </a:rPr>
              <a:t>HUMAN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4248" y="5175504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97386"/>
                </a:solidFill>
                <a:latin typeface="Aptos Mono"/>
              </a:rPr>
              <a:t>VS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175504"/>
            <a:ext cx="1600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4B38"/>
                </a:solidFill>
                <a:latin typeface="Aptos Mono"/>
              </a:rPr>
              <a:t>HUMAN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144768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5F7FA"/>
                </a:solidFill>
                <a:latin typeface="Aptos Mono"/>
              </a:rPr>
              <a:t>LIVE PRODUCT CAPTURE  /  VLGE × MUJOCO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56692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A9CFF"/>
                </a:solidFill>
                <a:latin typeface="Aptos Mono"/>
              </a:rPr>
              <a:t>What the customer gets</a:t>
            </a:r>
          </a:p>
        </p:txBody>
      </p:sp>
      <p:sp>
        <p:nvSpPr>
          <p:cNvPr id="23" name="Oval 22"/>
          <p:cNvSpPr/>
          <p:nvPr/>
        </p:nvSpPr>
        <p:spPr>
          <a:xfrm>
            <a:off x="6903720" y="1307592"/>
            <a:ext cx="91440" cy="91440"/>
          </a:xfrm>
          <a:prstGeom prst="ellipse">
            <a:avLst/>
          </a:prstGeom>
          <a:solidFill>
            <a:srgbClr val="4A9CFF"/>
          </a:solidFill>
          <a:ln w="12700">
            <a:solidFill>
              <a:srgbClr val="4A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23176" y="1234440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F7FA"/>
                </a:solidFill>
                <a:latin typeface="Aptos"/>
              </a:rPr>
              <a:t>Watch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23176" y="1536192"/>
            <a:ext cx="412394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6AFBE"/>
                </a:solidFill>
                <a:latin typeface="Aptos"/>
              </a:rPr>
              <a:t>A shared, browser-viewable match with live state and rationales.</a:t>
            </a:r>
          </a:p>
        </p:txBody>
      </p:sp>
      <p:sp>
        <p:nvSpPr>
          <p:cNvPr id="26" name="Oval 25"/>
          <p:cNvSpPr/>
          <p:nvPr/>
        </p:nvSpPr>
        <p:spPr>
          <a:xfrm>
            <a:off x="6903720" y="2496312"/>
            <a:ext cx="91440" cy="91440"/>
          </a:xfrm>
          <a:prstGeom prst="ellipse">
            <a:avLst/>
          </a:prstGeom>
          <a:solidFill>
            <a:srgbClr val="4A9CFF"/>
          </a:solidFill>
          <a:ln w="12700">
            <a:solidFill>
              <a:srgbClr val="4A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23176" y="2423160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F7FA"/>
                </a:solidFill>
                <a:latin typeface="Aptos"/>
              </a:rPr>
              <a:t>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3176" y="2724912"/>
            <a:ext cx="412394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6AFBE"/>
                </a:solidFill>
                <a:latin typeface="Aptos"/>
              </a:rPr>
              <a:t>Gamepad or keyboard input beside model-driven agents.</a:t>
            </a:r>
          </a:p>
        </p:txBody>
      </p:sp>
      <p:sp>
        <p:nvSpPr>
          <p:cNvPr id="29" name="Oval 28"/>
          <p:cNvSpPr/>
          <p:nvPr/>
        </p:nvSpPr>
        <p:spPr>
          <a:xfrm>
            <a:off x="6903720" y="3685032"/>
            <a:ext cx="91440" cy="91440"/>
          </a:xfrm>
          <a:prstGeom prst="ellipse">
            <a:avLst/>
          </a:prstGeom>
          <a:solidFill>
            <a:srgbClr val="55D6A5"/>
          </a:solidFill>
          <a:ln w="12700">
            <a:solidFill>
              <a:srgbClr val="55D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23176" y="3611880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F7FA"/>
                </a:solidFill>
                <a:latin typeface="Aptos"/>
              </a:rPr>
              <a:t>Measure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23176" y="3913632"/>
            <a:ext cx="412394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6AFBE"/>
                </a:solidFill>
                <a:latin typeface="Aptos"/>
              </a:rPr>
              <a:t>Trajectories, events, commands, falls and recovery attempts.</a:t>
            </a:r>
          </a:p>
        </p:txBody>
      </p:sp>
      <p:sp>
        <p:nvSpPr>
          <p:cNvPr id="32" name="Oval 31"/>
          <p:cNvSpPr/>
          <p:nvPr/>
        </p:nvSpPr>
        <p:spPr>
          <a:xfrm>
            <a:off x="6903720" y="4873752"/>
            <a:ext cx="91440" cy="91440"/>
          </a:xfrm>
          <a:prstGeom prst="ellipse">
            <a:avLst/>
          </a:prstGeom>
          <a:solidFill>
            <a:srgbClr val="55D6A5"/>
          </a:solidFill>
          <a:ln w="12700">
            <a:solidFill>
              <a:srgbClr val="55D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23176" y="4800600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F7FA"/>
                </a:solidFill>
                <a:latin typeface="Aptos"/>
              </a:rPr>
              <a:t>Replay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23176" y="5102352"/>
            <a:ext cx="412394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6AFBE"/>
                </a:solidFill>
                <a:latin typeface="Aptos"/>
              </a:rPr>
              <a:t>An evidence package for debugging, comparison and trust.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03720" y="6007608"/>
            <a:ext cx="1325880" cy="292608"/>
          </a:xfrm>
          <a:prstGeom prst="roundRect">
            <a:avLst>
              <a:gd name="adj" fmla="val 12000"/>
            </a:avLst>
          </a:prstGeom>
          <a:solidFill>
            <a:srgbClr val="55D6A5"/>
          </a:solidFill>
          <a:ln>
            <a:solidFill>
              <a:srgbClr val="55D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3720" y="6062472"/>
            <a:ext cx="1325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0B10"/>
                </a:solidFill>
                <a:latin typeface="Aptos Mono"/>
              </a:rPr>
              <a:t>BUILT AND RUNNING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" y="6556248"/>
            <a:ext cx="10881360" cy="9144"/>
          </a:xfrm>
          <a:prstGeom prst="rect">
            <a:avLst/>
          </a:prstGeom>
          <a:solidFill>
            <a:srgbClr val="27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60196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97386"/>
                </a:solidFill>
                <a:latin typeface="Aptos Mono"/>
              </a:rPr>
              <a:t>ROBOT GYM  / 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660196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97386"/>
                </a:solidFill>
                <a:latin typeface="Aptos Mono"/>
              </a:rPr>
              <a:t>PRODUCT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65992" y="660196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5F7FA"/>
                </a:solidFill>
                <a:latin typeface="Apto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A9CFF"/>
                </a:solidFill>
                <a:latin typeface="Aptos Mono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5F7FA"/>
                </a:solidFill>
                <a:latin typeface="Aptos"/>
              </a:rPr>
              <a:t>One arena. A clean boundary between
reasoning, control and evidence.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" y="2331720"/>
            <a:ext cx="1627632" cy="1965960"/>
          </a:xfrm>
          <a:prstGeom prst="roundRect">
            <a:avLst>
              <a:gd name="adj" fmla="val 12000"/>
            </a:avLst>
          </a:prstGeom>
          <a:solidFill>
            <a:srgbClr val="111722"/>
          </a:solidFill>
          <a:ln>
            <a:solidFill>
              <a:srgbClr val="27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251460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A9CFF"/>
                </a:solidFill>
                <a:latin typeface="Aptos Mono"/>
              </a:rPr>
              <a:t>01</a:t>
            </a:r>
          </a:p>
        </p:txBody>
      </p:sp>
      <p:sp>
        <p:nvSpPr>
          <p:cNvPr id="6" name="Oval 5"/>
          <p:cNvSpPr/>
          <p:nvPr/>
        </p:nvSpPr>
        <p:spPr>
          <a:xfrm>
            <a:off x="1746504" y="2496312"/>
            <a:ext cx="146304" cy="146304"/>
          </a:xfrm>
          <a:prstGeom prst="ellipse">
            <a:avLst/>
          </a:prstGeom>
          <a:solidFill>
            <a:srgbClr val="4A9CFF"/>
          </a:solidFill>
          <a:ln w="12700">
            <a:solidFill>
              <a:srgbClr val="4A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301752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F7FA"/>
                </a:solidFill>
                <a:latin typeface="Aptos Mono"/>
              </a:rPr>
              <a:t>VLGE WORLD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3493008"/>
            <a:ext cx="129844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6AFBE"/>
                </a:solidFill>
                <a:latin typeface="Aptos"/>
              </a:rPr>
              <a:t>Scenario, visuals, 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3172968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97386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2331720"/>
            <a:ext cx="1627632" cy="1965960"/>
          </a:xfrm>
          <a:prstGeom prst="roundRect">
            <a:avLst>
              <a:gd name="adj" fmla="val 12000"/>
            </a:avLst>
          </a:prstGeom>
          <a:solidFill>
            <a:srgbClr val="171E2A"/>
          </a:solidFill>
          <a:ln>
            <a:solidFill>
              <a:srgbClr val="27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8608" y="251460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DC6FF"/>
                </a:solidFill>
                <a:latin typeface="Aptos Mono"/>
              </a:rPr>
              <a:t>02</a:t>
            </a:r>
          </a:p>
        </p:txBody>
      </p:sp>
      <p:sp>
        <p:nvSpPr>
          <p:cNvPr id="12" name="Oval 11"/>
          <p:cNvSpPr/>
          <p:nvPr/>
        </p:nvSpPr>
        <p:spPr>
          <a:xfrm>
            <a:off x="3648456" y="2496312"/>
            <a:ext cx="146304" cy="146304"/>
          </a:xfrm>
          <a:prstGeom prst="ellipse">
            <a:avLst/>
          </a:prstGeom>
          <a:solidFill>
            <a:srgbClr val="8DC6FF"/>
          </a:solidFill>
          <a:ln w="12700">
            <a:solidFill>
              <a:srgbClr val="8D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78608" y="301752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F7FA"/>
                </a:solidFill>
                <a:latin typeface="Aptos Mono"/>
              </a:rPr>
              <a:t>PERCEPTION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3493008"/>
            <a:ext cx="129844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6AFBE"/>
                </a:solidFill>
                <a:latin typeface="Aptos"/>
              </a:rPr>
              <a:t>Delayed camera-grounded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3172968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97386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2331720"/>
            <a:ext cx="1627632" cy="1965960"/>
          </a:xfrm>
          <a:prstGeom prst="roundRect">
            <a:avLst>
              <a:gd name="adj" fmla="val 12000"/>
            </a:avLst>
          </a:prstGeom>
          <a:solidFill>
            <a:srgbClr val="111722"/>
          </a:solidFill>
          <a:ln>
            <a:solidFill>
              <a:srgbClr val="27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51460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4C95D"/>
                </a:solidFill>
                <a:latin typeface="Aptos Mono"/>
              </a:rPr>
              <a:t>03</a:t>
            </a:r>
          </a:p>
        </p:txBody>
      </p:sp>
      <p:sp>
        <p:nvSpPr>
          <p:cNvPr id="18" name="Oval 17"/>
          <p:cNvSpPr/>
          <p:nvPr/>
        </p:nvSpPr>
        <p:spPr>
          <a:xfrm>
            <a:off x="5550408" y="2496312"/>
            <a:ext cx="146304" cy="146304"/>
          </a:xfrm>
          <a:prstGeom prst="ellipse">
            <a:avLst/>
          </a:prstGeom>
          <a:solidFill>
            <a:srgbClr val="F4C95D"/>
          </a:solidFill>
          <a:ln w="12700"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01752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F7FA"/>
                </a:solidFill>
                <a:latin typeface="Aptos Mono"/>
              </a:rPr>
              <a:t>PLAYER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493008"/>
            <a:ext cx="129844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6AFBE"/>
                </a:solidFill>
                <a:latin typeface="Aptos"/>
              </a:rPr>
              <a:t>Gemini • custom model • human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2" y="3172968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97386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331720"/>
            <a:ext cx="1627632" cy="1965960"/>
          </a:xfrm>
          <a:prstGeom prst="roundRect">
            <a:avLst>
              <a:gd name="adj" fmla="val 12000"/>
            </a:avLst>
          </a:prstGeom>
          <a:solidFill>
            <a:srgbClr val="171E2A"/>
          </a:solidFill>
          <a:ln>
            <a:solidFill>
              <a:srgbClr val="27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51460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4B38"/>
                </a:solidFill>
                <a:latin typeface="Aptos Mono"/>
              </a:rPr>
              <a:t>04</a:t>
            </a:r>
          </a:p>
        </p:txBody>
      </p:sp>
      <p:sp>
        <p:nvSpPr>
          <p:cNvPr id="24" name="Oval 23"/>
          <p:cNvSpPr/>
          <p:nvPr/>
        </p:nvSpPr>
        <p:spPr>
          <a:xfrm>
            <a:off x="7452360" y="2496312"/>
            <a:ext cx="146304" cy="146304"/>
          </a:xfrm>
          <a:prstGeom prst="ellipse">
            <a:avLst/>
          </a:prstGeom>
          <a:solidFill>
            <a:srgbClr val="FF4B38"/>
          </a:solidFill>
          <a:ln w="12700">
            <a:solidFill>
              <a:srgbClr val="FF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301752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F7FA"/>
                </a:solidFill>
                <a:latin typeface="Aptos Mono"/>
              </a:rPr>
              <a:t>GUARDED SKILLS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493008"/>
            <a:ext cx="129844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6AFBE"/>
                </a:solidFill>
                <a:latin typeface="Aptos"/>
              </a:rPr>
              <a:t>Navigate • grasp • release • reset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72984" y="3172968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97386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9872" y="2331720"/>
            <a:ext cx="1627632" cy="1965960"/>
          </a:xfrm>
          <a:prstGeom prst="roundRect">
            <a:avLst>
              <a:gd name="adj" fmla="val 12000"/>
            </a:avLst>
          </a:prstGeom>
          <a:solidFill>
            <a:srgbClr val="111722"/>
          </a:solidFill>
          <a:ln>
            <a:solidFill>
              <a:srgbClr val="27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4" y="251460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5D6A5"/>
                </a:solidFill>
                <a:latin typeface="Aptos Mono"/>
              </a:rPr>
              <a:t>05</a:t>
            </a:r>
          </a:p>
        </p:txBody>
      </p:sp>
      <p:sp>
        <p:nvSpPr>
          <p:cNvPr id="30" name="Oval 29"/>
          <p:cNvSpPr/>
          <p:nvPr/>
        </p:nvSpPr>
        <p:spPr>
          <a:xfrm>
            <a:off x="9354312" y="2496312"/>
            <a:ext cx="146304" cy="146304"/>
          </a:xfrm>
          <a:prstGeom prst="ellipse">
            <a:avLst/>
          </a:prstGeom>
          <a:solidFill>
            <a:srgbClr val="55D6A5"/>
          </a:solidFill>
          <a:ln w="12700">
            <a:solidFill>
              <a:srgbClr val="55D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84464" y="301752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F7FA"/>
                </a:solidFill>
                <a:latin typeface="Aptos Mono"/>
              </a:rPr>
              <a:t>G1 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3493008"/>
            <a:ext cx="129844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6AFBE"/>
                </a:solidFill>
                <a:latin typeface="Aptos"/>
              </a:rPr>
              <a:t>Official locomotion policy + SDK-shaped channel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74936" y="3172968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97386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21824" y="2331720"/>
            <a:ext cx="1627632" cy="1965960"/>
          </a:xfrm>
          <a:prstGeom prst="roundRect">
            <a:avLst>
              <a:gd name="adj" fmla="val 12000"/>
            </a:avLst>
          </a:prstGeom>
          <a:solidFill>
            <a:srgbClr val="171E2A"/>
          </a:solidFill>
          <a:ln>
            <a:solidFill>
              <a:srgbClr val="27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86416" y="251460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5F7FA"/>
                </a:solidFill>
                <a:latin typeface="Aptos Mono"/>
              </a:rPr>
              <a:t>06</a:t>
            </a:r>
          </a:p>
        </p:txBody>
      </p:sp>
      <p:sp>
        <p:nvSpPr>
          <p:cNvPr id="36" name="Oval 35"/>
          <p:cNvSpPr/>
          <p:nvPr/>
        </p:nvSpPr>
        <p:spPr>
          <a:xfrm>
            <a:off x="11256264" y="2496312"/>
            <a:ext cx="146304" cy="146304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86416" y="301752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F7FA"/>
                </a:solidFill>
                <a:latin typeface="Aptos Mono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6416" y="3493008"/>
            <a:ext cx="129844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6AFBE"/>
                </a:solidFill>
                <a:latin typeface="Aptos"/>
              </a:rPr>
              <a:t>Trajectory • events • outcome • replay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" y="4773168"/>
            <a:ext cx="11137392" cy="914400"/>
          </a:xfrm>
          <a:prstGeom prst="roundRect">
            <a:avLst>
              <a:gd name="adj" fmla="val 12000"/>
            </a:avLst>
          </a:prstGeom>
          <a:solidFill>
            <a:srgbClr val="111722"/>
          </a:solidFill>
          <a:ln>
            <a:solidFill>
              <a:srgbClr val="111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49808" y="5047488"/>
            <a:ext cx="1298448" cy="292608"/>
          </a:xfrm>
          <a:prstGeom prst="roundRect">
            <a:avLst>
              <a:gd name="adj" fmla="val 12000"/>
            </a:avLst>
          </a:prstGeom>
          <a:solidFill>
            <a:srgbClr val="4A9CFF"/>
          </a:solidFill>
          <a:ln>
            <a:solidFill>
              <a:srgbClr val="4A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5102351"/>
            <a:ext cx="12984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0B10"/>
                </a:solidFill>
                <a:latin typeface="Aptos Mono"/>
              </a:rPr>
              <a:t>KEY DESIGN CHOICE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04288" y="4956048"/>
            <a:ext cx="87782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7FA"/>
                </a:solidFill>
                <a:latin typeface="Aptos"/>
              </a:rPr>
              <a:t>Models choose grounded intent; the safety and control layer owns executable motion.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13432" y="5394960"/>
            <a:ext cx="8458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6AFBE"/>
                </a:solidFill>
                <a:latin typeface="Aptos"/>
              </a:rPr>
              <a:t>This makes model comparison possible without pretending a language model is a motor controller.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" y="6556248"/>
            <a:ext cx="10881360" cy="9144"/>
          </a:xfrm>
          <a:prstGeom prst="rect">
            <a:avLst/>
          </a:prstGeom>
          <a:solidFill>
            <a:srgbClr val="27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60196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97386"/>
                </a:solidFill>
                <a:latin typeface="Aptos Mono"/>
              </a:rPr>
              <a:t>ROBOT GYM  /  CONFIDENTIAL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660196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97386"/>
                </a:solidFill>
                <a:latin typeface="Aptos Mono"/>
              </a:rPr>
              <a:t>SYSTEM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65992" y="660196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5F7FA"/>
                </a:solidFill>
                <a:latin typeface="Apto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5D6A5"/>
                </a:solidFill>
                <a:latin typeface="Aptos Mono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7FA"/>
                </a:solidFill>
                <a:latin typeface="Aptos"/>
              </a:rPr>
              <a:t>Embodied AI is moving from demos
to an evaluation economy.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2212848"/>
            <a:ext cx="3200400" cy="9144"/>
          </a:xfrm>
          <a:prstGeom prst="rect">
            <a:avLst/>
          </a:prstGeom>
          <a:solidFill>
            <a:srgbClr val="4A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487168"/>
            <a:ext cx="32461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4A9CFF"/>
                </a:solidFill>
                <a:latin typeface="Aptos"/>
              </a:rPr>
              <a:t>$38B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05409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6AFBE"/>
                </a:solidFill>
                <a:latin typeface="Aptos Mono"/>
              </a:rPr>
              <a:t>PROJECTED HUMANOID ROBOT MARKET BY 2035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3584448"/>
            <a:ext cx="31821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7386"/>
                </a:solidFill>
                <a:latin typeface="Aptos"/>
              </a:rPr>
              <a:t>Goldman Sachs Research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1104" y="2212848"/>
            <a:ext cx="3200400" cy="9144"/>
          </a:xfrm>
          <a:prstGeom prst="rect">
            <a:avLst/>
          </a:prstGeom>
          <a:solidFill>
            <a:srgbClr val="55D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1104" y="2487168"/>
            <a:ext cx="32461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55D6A5"/>
                </a:solidFill>
                <a:latin typeface="Aptos"/>
              </a:rPr>
              <a:t>542K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1104" y="305409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6AFBE"/>
                </a:solidFill>
                <a:latin typeface="Aptos Mono"/>
              </a:rPr>
              <a:t>INDUSTRIAL ROBOTS INSTALLED IN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104" y="3584448"/>
            <a:ext cx="31821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7386"/>
                </a:solidFill>
                <a:latin typeface="Aptos"/>
              </a:rPr>
              <a:t>International Federation of Robotics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1856" y="2212848"/>
            <a:ext cx="3200400" cy="9144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91856" y="2487168"/>
            <a:ext cx="32461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C95D"/>
                </a:solidFill>
                <a:latin typeface="Aptos"/>
              </a:rPr>
              <a:t>+42%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1856" y="305409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6AFBE"/>
                </a:solidFill>
                <a:latin typeface="Aptos Mono"/>
              </a:rPr>
              <a:t>GROWTH IN RAAS FLEETS IN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1856" y="3584448"/>
            <a:ext cx="31821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7386"/>
                </a:solidFill>
                <a:latin typeface="Aptos"/>
              </a:rPr>
              <a:t>International Federation of Robotics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279392"/>
            <a:ext cx="11137392" cy="1143000"/>
          </a:xfrm>
          <a:prstGeom prst="roundRect">
            <a:avLst>
              <a:gd name="adj" fmla="val 12000"/>
            </a:avLst>
          </a:prstGeom>
          <a:solidFill>
            <a:srgbClr val="111722"/>
          </a:solidFill>
          <a:ln>
            <a:solidFill>
              <a:srgbClr val="111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572000"/>
            <a:ext cx="1051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4B38"/>
                </a:solidFill>
                <a:latin typeface="Aptos Mono"/>
              </a:rPr>
              <a:t>MODEL SHIFT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4498848"/>
            <a:ext cx="897940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F7FA"/>
                </a:solidFill>
                <a:latin typeface="Aptos"/>
              </a:rPr>
              <a:t>Embodied reasoning is now API-accessible—planning and spatial understanding can be evaluated across models.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39112" y="502005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6AFBE"/>
                </a:solidFill>
                <a:latin typeface="Aptos"/>
              </a:rPr>
              <a:t>Robot Gym is the neutral arena between rapidly changing models and slow, expensive hardware.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016752"/>
            <a:ext cx="99669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97386"/>
                </a:solidFill>
                <a:latin typeface="Aptos"/>
              </a:rPr>
              <a:t>Sources: Goldman Sachs Research (2024); IFR World Robotics 2025; Google DeepMind Gemini Robotics-ER.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" y="6556248"/>
            <a:ext cx="10881360" cy="9144"/>
          </a:xfrm>
          <a:prstGeom prst="rect">
            <a:avLst/>
          </a:prstGeom>
          <a:solidFill>
            <a:srgbClr val="27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60196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97386"/>
                </a:solidFill>
                <a:latin typeface="Aptos Mono"/>
              </a:rPr>
              <a:t>ROBOT GYM  /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660196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97386"/>
                </a:solidFill>
                <a:latin typeface="Aptos Mono"/>
              </a:rPr>
              <a:t>MARKET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65992" y="660196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5F7FA"/>
                </a:solidFill>
                <a:latin typeface="Apto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4C95D"/>
                </a:solidFill>
                <a:latin typeface="Aptos Mono"/>
              </a:rPr>
              <a:t>THE WEDGE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5F7FA"/>
                </a:solidFill>
                <a:latin typeface="Aptos"/>
              </a:rPr>
              <a:t>Competition turns evaluation
into a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2148840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6AFBE"/>
                </a:solidFill>
                <a:latin typeface="Aptos"/>
              </a:rPr>
              <a:t>A race is legible to an audience—and unforgiving to a policy.</a:t>
            </a:r>
          </a:p>
        </p:txBody>
      </p:sp>
      <p:sp>
        <p:nvSpPr>
          <p:cNvPr id="5" name="Oval 4"/>
          <p:cNvSpPr/>
          <p:nvPr/>
        </p:nvSpPr>
        <p:spPr>
          <a:xfrm>
            <a:off x="530352" y="3108960"/>
            <a:ext cx="603504" cy="603504"/>
          </a:xfrm>
          <a:prstGeom prst="ellipse">
            <a:avLst/>
          </a:prstGeom>
          <a:solidFill>
            <a:srgbClr val="4A9CFF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300984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0B10"/>
                </a:solidFill>
                <a:latin typeface="Aptos Mono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6152" y="3392424"/>
            <a:ext cx="1947672" cy="18288"/>
          </a:xfrm>
          <a:prstGeom prst="rect">
            <a:avLst/>
          </a:prstGeom>
          <a:solidFill>
            <a:srgbClr val="27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968496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7FA"/>
                </a:solidFill>
                <a:latin typeface="Aptos Mono"/>
              </a:rPr>
              <a:t>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4389120"/>
            <a:ext cx="22494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6AFBE"/>
                </a:solidFill>
                <a:latin typeface="Aptos"/>
              </a:rPr>
              <a:t>Models and humans enter a shared task.</a:t>
            </a:r>
          </a:p>
        </p:txBody>
      </p:sp>
      <p:sp>
        <p:nvSpPr>
          <p:cNvPr id="10" name="Oval 9"/>
          <p:cNvSpPr/>
          <p:nvPr/>
        </p:nvSpPr>
        <p:spPr>
          <a:xfrm>
            <a:off x="3346704" y="3108960"/>
            <a:ext cx="603504" cy="603504"/>
          </a:xfrm>
          <a:prstGeom prst="ellipse">
            <a:avLst/>
          </a:prstGeom>
          <a:solidFill>
            <a:srgbClr val="4A9CFF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4" y="3300984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0B10"/>
                </a:solidFill>
                <a:latin typeface="Aptos Mono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32504" y="3392424"/>
            <a:ext cx="1947672" cy="18288"/>
          </a:xfrm>
          <a:prstGeom prst="rect">
            <a:avLst/>
          </a:prstGeom>
          <a:solidFill>
            <a:srgbClr val="27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6704" y="3968496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7FA"/>
                </a:solidFill>
                <a:latin typeface="Aptos Mono"/>
              </a:rPr>
              <a:t>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4389120"/>
            <a:ext cx="22494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6AFBE"/>
                </a:solidFill>
                <a:latin typeface="Aptos"/>
              </a:rPr>
              <a:t>Every action becomes structured evidence.</a:t>
            </a:r>
          </a:p>
        </p:txBody>
      </p:sp>
      <p:sp>
        <p:nvSpPr>
          <p:cNvPr id="15" name="Oval 14"/>
          <p:cNvSpPr/>
          <p:nvPr/>
        </p:nvSpPr>
        <p:spPr>
          <a:xfrm>
            <a:off x="6163056" y="3108960"/>
            <a:ext cx="603504" cy="603504"/>
          </a:xfrm>
          <a:prstGeom prst="ellipse">
            <a:avLst/>
          </a:prstGeom>
          <a:solidFill>
            <a:srgbClr val="FF4B38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3300984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0B10"/>
                </a:solidFill>
                <a:latin typeface="Aptos Mono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48856" y="3392424"/>
            <a:ext cx="1947672" cy="18288"/>
          </a:xfrm>
          <a:prstGeom prst="rect">
            <a:avLst/>
          </a:prstGeom>
          <a:solidFill>
            <a:srgbClr val="27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3968496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7FA"/>
                </a:solidFill>
                <a:latin typeface="Aptos Mono"/>
              </a:rP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4389120"/>
            <a:ext cx="22494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6AFBE"/>
                </a:solidFill>
                <a:latin typeface="Aptos"/>
              </a:rPr>
              <a:t>Outcomes reveal capability and failure modes.</a:t>
            </a:r>
          </a:p>
        </p:txBody>
      </p:sp>
      <p:sp>
        <p:nvSpPr>
          <p:cNvPr id="20" name="Oval 19"/>
          <p:cNvSpPr/>
          <p:nvPr/>
        </p:nvSpPr>
        <p:spPr>
          <a:xfrm>
            <a:off x="8979408" y="3108960"/>
            <a:ext cx="603504" cy="603504"/>
          </a:xfrm>
          <a:prstGeom prst="ellipse">
            <a:avLst/>
          </a:prstGeom>
          <a:solidFill>
            <a:srgbClr val="FF4B38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9408" y="3300984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0B10"/>
                </a:solidFill>
                <a:latin typeface="Aptos Mon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3968496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7FA"/>
                </a:solidFill>
                <a:latin typeface="Aptos Mono"/>
              </a:rPr>
              <a:t>IMPROVE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4389120"/>
            <a:ext cx="22494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6AFBE"/>
                </a:solidFill>
                <a:latin typeface="Aptos"/>
              </a:rPr>
              <a:t>Teams iterate policies, prompts and controllers.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5532120"/>
            <a:ext cx="11137392" cy="612648"/>
          </a:xfrm>
          <a:prstGeom prst="roundRect">
            <a:avLst>
              <a:gd name="adj" fmla="val 12000"/>
            </a:avLst>
          </a:prstGeom>
          <a:solidFill>
            <a:srgbClr val="171E2A"/>
          </a:solidFill>
          <a:ln>
            <a:solidFill>
              <a:srgbClr val="17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715000"/>
            <a:ext cx="104424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C95D"/>
                </a:solidFill>
                <a:latin typeface="Aptos"/>
              </a:rPr>
              <a:t>Flywheel: </a:t>
            </a:r>
            <a:r>
              <a:rPr sz="1300" b="0">
                <a:solidFill>
                  <a:srgbClr val="F5F7FA"/>
                </a:solidFill>
                <a:latin typeface="Aptos"/>
              </a:rPr>
              <a:t>more scenarios → more matches → better failure data → stronger benchmarks → more teams.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6556248"/>
            <a:ext cx="10881360" cy="9144"/>
          </a:xfrm>
          <a:prstGeom prst="rect">
            <a:avLst/>
          </a:prstGeom>
          <a:solidFill>
            <a:srgbClr val="27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60196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97386"/>
                </a:solidFill>
                <a:latin typeface="Aptos Mono"/>
              </a:rPr>
              <a:t>ROBOT GYM  /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660196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97386"/>
                </a:solidFill>
                <a:latin typeface="Aptos Mono"/>
              </a:rPr>
              <a:t>WEDGE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660196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5F7FA"/>
                </a:solidFill>
                <a:latin typeface="Apto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5D6A5"/>
                </a:solidFill>
                <a:latin typeface="Aptos Mono"/>
              </a:rPr>
              <a:t>EXECUTION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5F7FA"/>
                </a:solidFill>
                <a:latin typeface="Aptos"/>
              </a:rPr>
              <a:t>The core arena is already built.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3536" y="438912"/>
            <a:ext cx="1078992" cy="292608"/>
          </a:xfrm>
          <a:prstGeom prst="roundRect">
            <a:avLst>
              <a:gd name="adj" fmla="val 12000"/>
            </a:avLst>
          </a:prstGeom>
          <a:solidFill>
            <a:srgbClr val="55D6A5"/>
          </a:solidFill>
          <a:ln>
            <a:solidFill>
              <a:srgbClr val="55D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03536" y="493776"/>
            <a:ext cx="107899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0B10"/>
                </a:solidFill>
                <a:latin typeface="Aptos Mono"/>
              </a:rPr>
              <a:t>SHIPPED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965960"/>
            <a:ext cx="3310128" cy="3337560"/>
          </a:xfrm>
          <a:prstGeom prst="roundRect">
            <a:avLst>
              <a:gd name="adj" fmla="val 12000"/>
            </a:avLst>
          </a:prstGeom>
          <a:solidFill>
            <a:srgbClr val="111722"/>
          </a:solidFill>
          <a:ln>
            <a:solidFill>
              <a:srgbClr val="27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22199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A9CFF"/>
                </a:solidFill>
                <a:latin typeface="Aptos Mono"/>
              </a:rPr>
              <a:t>MATCH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98064"/>
            <a:ext cx="73152" cy="73152"/>
          </a:xfrm>
          <a:prstGeom prst="ellipse">
            <a:avLst/>
          </a:prstGeom>
          <a:solidFill>
            <a:srgbClr val="4A9CFF"/>
          </a:solidFill>
          <a:ln w="12700">
            <a:solidFill>
              <a:srgbClr val="4A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5" y="2743200"/>
            <a:ext cx="2542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5F7FA"/>
                </a:solidFill>
                <a:latin typeface="Aptos"/>
              </a:rPr>
              <a:t>AI vs AI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364992"/>
            <a:ext cx="73152" cy="73152"/>
          </a:xfrm>
          <a:prstGeom prst="ellipse">
            <a:avLst/>
          </a:prstGeom>
          <a:solidFill>
            <a:srgbClr val="4A9CFF"/>
          </a:solidFill>
          <a:ln w="12700">
            <a:solidFill>
              <a:srgbClr val="4A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" y="3310128"/>
            <a:ext cx="2542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6AFBE"/>
                </a:solidFill>
                <a:latin typeface="Aptos"/>
              </a:rPr>
              <a:t>AI vs human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31920"/>
            <a:ext cx="73152" cy="73152"/>
          </a:xfrm>
          <a:prstGeom prst="ellipse">
            <a:avLst/>
          </a:prstGeom>
          <a:solidFill>
            <a:srgbClr val="4A9CFF"/>
          </a:solidFill>
          <a:ln w="12700">
            <a:solidFill>
              <a:srgbClr val="4A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5" y="3877056"/>
            <a:ext cx="2542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6AFBE"/>
                </a:solidFill>
                <a:latin typeface="Aptos"/>
              </a:rPr>
              <a:t>Human vs human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498848"/>
            <a:ext cx="73152" cy="73152"/>
          </a:xfrm>
          <a:prstGeom prst="ellipse">
            <a:avLst/>
          </a:prstGeom>
          <a:solidFill>
            <a:srgbClr val="4A9CFF"/>
          </a:solidFill>
          <a:ln w="12700">
            <a:solidFill>
              <a:srgbClr val="4A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5" y="4443983"/>
            <a:ext cx="2542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6AFBE"/>
                </a:solidFill>
                <a:latin typeface="Aptos"/>
              </a:rPr>
              <a:t>Rematch + idle player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1104" y="1965960"/>
            <a:ext cx="3310128" cy="3337560"/>
          </a:xfrm>
          <a:prstGeom prst="roundRect">
            <a:avLst>
              <a:gd name="adj" fmla="val 12000"/>
            </a:avLst>
          </a:prstGeom>
          <a:solidFill>
            <a:srgbClr val="171E2A"/>
          </a:solidFill>
          <a:ln>
            <a:solidFill>
              <a:srgbClr val="27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9704" y="222199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4B38"/>
                </a:solidFill>
                <a:latin typeface="Aptos Mono"/>
              </a:rPr>
              <a:t>CONTROL</a:t>
            </a:r>
          </a:p>
        </p:txBody>
      </p:sp>
      <p:sp>
        <p:nvSpPr>
          <p:cNvPr id="18" name="Oval 17"/>
          <p:cNvSpPr/>
          <p:nvPr/>
        </p:nvSpPr>
        <p:spPr>
          <a:xfrm>
            <a:off x="4507992" y="2798064"/>
            <a:ext cx="73152" cy="73152"/>
          </a:xfrm>
          <a:prstGeom prst="ellipse">
            <a:avLst/>
          </a:prstGeom>
          <a:solidFill>
            <a:srgbClr val="FF4B38"/>
          </a:solidFill>
          <a:ln w="12700">
            <a:solidFill>
              <a:srgbClr val="FF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27448" y="2743200"/>
            <a:ext cx="2542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5F7FA"/>
                </a:solidFill>
                <a:latin typeface="Aptos"/>
              </a:rPr>
              <a:t>Browser gamepad + keyboard</a:t>
            </a:r>
          </a:p>
        </p:txBody>
      </p:sp>
      <p:sp>
        <p:nvSpPr>
          <p:cNvPr id="20" name="Oval 19"/>
          <p:cNvSpPr/>
          <p:nvPr/>
        </p:nvSpPr>
        <p:spPr>
          <a:xfrm>
            <a:off x="4507992" y="3364992"/>
            <a:ext cx="73152" cy="73152"/>
          </a:xfrm>
          <a:prstGeom prst="ellipse">
            <a:avLst/>
          </a:prstGeom>
          <a:solidFill>
            <a:srgbClr val="FF4B38"/>
          </a:solidFill>
          <a:ln w="12700">
            <a:solidFill>
              <a:srgbClr val="FF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27448" y="3310128"/>
            <a:ext cx="2542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6AFBE"/>
                </a:solidFill>
                <a:latin typeface="Aptos"/>
              </a:rPr>
              <a:t>Official G1 locomotion policy</a:t>
            </a:r>
          </a:p>
        </p:txBody>
      </p:sp>
      <p:sp>
        <p:nvSpPr>
          <p:cNvPr id="22" name="Oval 21"/>
          <p:cNvSpPr/>
          <p:nvPr/>
        </p:nvSpPr>
        <p:spPr>
          <a:xfrm>
            <a:off x="4507992" y="3931920"/>
            <a:ext cx="73152" cy="73152"/>
          </a:xfrm>
          <a:prstGeom prst="ellipse">
            <a:avLst/>
          </a:prstGeom>
          <a:solidFill>
            <a:srgbClr val="FF4B38"/>
          </a:solidFill>
          <a:ln w="12700">
            <a:solidFill>
              <a:srgbClr val="FF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27448" y="3877056"/>
            <a:ext cx="2542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6AFBE"/>
                </a:solidFill>
                <a:latin typeface="Aptos"/>
              </a:rPr>
              <a:t>500 Hz physics / 50 Hz channel</a:t>
            </a:r>
          </a:p>
        </p:txBody>
      </p:sp>
      <p:sp>
        <p:nvSpPr>
          <p:cNvPr id="24" name="Oval 23"/>
          <p:cNvSpPr/>
          <p:nvPr/>
        </p:nvSpPr>
        <p:spPr>
          <a:xfrm>
            <a:off x="4507992" y="4498848"/>
            <a:ext cx="73152" cy="73152"/>
          </a:xfrm>
          <a:prstGeom prst="ellipse">
            <a:avLst/>
          </a:prstGeom>
          <a:solidFill>
            <a:srgbClr val="FF4B38"/>
          </a:solidFill>
          <a:ln w="12700">
            <a:solidFill>
              <a:srgbClr val="FF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8" y="4443983"/>
            <a:ext cx="2542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6AFBE"/>
                </a:solidFill>
                <a:latin typeface="Aptos"/>
              </a:rPr>
              <a:t>Guarded grasp, release + reset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1965960"/>
            <a:ext cx="3310128" cy="3337560"/>
          </a:xfrm>
          <a:prstGeom prst="roundRect">
            <a:avLst>
              <a:gd name="adj" fmla="val 12000"/>
            </a:avLst>
          </a:prstGeom>
          <a:solidFill>
            <a:srgbClr val="111722"/>
          </a:solidFill>
          <a:ln>
            <a:solidFill>
              <a:srgbClr val="27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0456" y="222199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5D6A5"/>
                </a:solidFill>
                <a:latin typeface="Aptos Mono"/>
              </a:rPr>
              <a:t>EVALUATION</a:t>
            </a:r>
          </a:p>
        </p:txBody>
      </p:sp>
      <p:sp>
        <p:nvSpPr>
          <p:cNvPr id="28" name="Oval 27"/>
          <p:cNvSpPr/>
          <p:nvPr/>
        </p:nvSpPr>
        <p:spPr>
          <a:xfrm>
            <a:off x="8238744" y="2798064"/>
            <a:ext cx="73152" cy="73152"/>
          </a:xfrm>
          <a:prstGeom prst="ellipse">
            <a:avLst/>
          </a:prstGeom>
          <a:solidFill>
            <a:srgbClr val="55D6A5"/>
          </a:solidFill>
          <a:ln w="12700">
            <a:solidFill>
              <a:srgbClr val="55D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2743200"/>
            <a:ext cx="2542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5F7FA"/>
                </a:solidFill>
                <a:latin typeface="Aptos"/>
              </a:rPr>
              <a:t>Camera-grounded perception</a:t>
            </a:r>
          </a:p>
        </p:txBody>
      </p:sp>
      <p:sp>
        <p:nvSpPr>
          <p:cNvPr id="30" name="Oval 29"/>
          <p:cNvSpPr/>
          <p:nvPr/>
        </p:nvSpPr>
        <p:spPr>
          <a:xfrm>
            <a:off x="8238744" y="3364992"/>
            <a:ext cx="73152" cy="73152"/>
          </a:xfrm>
          <a:prstGeom prst="ellipse">
            <a:avLst/>
          </a:prstGeom>
          <a:solidFill>
            <a:srgbClr val="55D6A5"/>
          </a:solidFill>
          <a:ln w="12700">
            <a:solidFill>
              <a:srgbClr val="55D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3310128"/>
            <a:ext cx="2542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6AFBE"/>
                </a:solidFill>
                <a:latin typeface="Aptos"/>
              </a:rPr>
              <a:t>Latency, dropout + noise</a:t>
            </a:r>
          </a:p>
        </p:txBody>
      </p:sp>
      <p:sp>
        <p:nvSpPr>
          <p:cNvPr id="32" name="Oval 31"/>
          <p:cNvSpPr/>
          <p:nvPr/>
        </p:nvSpPr>
        <p:spPr>
          <a:xfrm>
            <a:off x="8238744" y="3931920"/>
            <a:ext cx="73152" cy="73152"/>
          </a:xfrm>
          <a:prstGeom prst="ellipse">
            <a:avLst/>
          </a:prstGeom>
          <a:solidFill>
            <a:srgbClr val="55D6A5"/>
          </a:solidFill>
          <a:ln w="12700">
            <a:solidFill>
              <a:srgbClr val="55D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3877056"/>
            <a:ext cx="2542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6AFBE"/>
                </a:solidFill>
                <a:latin typeface="Aptos"/>
              </a:rPr>
              <a:t>Custom HTTP policy adapter</a:t>
            </a:r>
          </a:p>
        </p:txBody>
      </p:sp>
      <p:sp>
        <p:nvSpPr>
          <p:cNvPr id="34" name="Oval 33"/>
          <p:cNvSpPr/>
          <p:nvPr/>
        </p:nvSpPr>
        <p:spPr>
          <a:xfrm>
            <a:off x="8238744" y="4498848"/>
            <a:ext cx="73152" cy="73152"/>
          </a:xfrm>
          <a:prstGeom prst="ellipse">
            <a:avLst/>
          </a:prstGeom>
          <a:solidFill>
            <a:srgbClr val="55D6A5"/>
          </a:solidFill>
          <a:ln w="12700">
            <a:solidFill>
              <a:srgbClr val="55D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4443983"/>
            <a:ext cx="2542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6AFBE"/>
                </a:solidFill>
                <a:latin typeface="Aptos"/>
              </a:rPr>
              <a:t>Evidence and replay package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571500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97386"/>
                </a:solidFill>
                <a:latin typeface="Aptos Mono"/>
              </a:rPr>
              <a:t>DEPLOYMENT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55648" y="5650992"/>
            <a:ext cx="7498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7FA"/>
                </a:solidFill>
                <a:latin typeface="Aptos"/>
              </a:rPr>
              <a:t>Mac development  →  RunPod GPU host  →  browser spectators and players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5733288"/>
            <a:ext cx="3154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97386"/>
                </a:solidFill>
                <a:latin typeface="Aptos"/>
              </a:rPr>
              <a:t>Current product scope; not a claim of real-hardware certification.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" y="6556248"/>
            <a:ext cx="10881360" cy="9144"/>
          </a:xfrm>
          <a:prstGeom prst="rect">
            <a:avLst/>
          </a:prstGeom>
          <a:solidFill>
            <a:srgbClr val="27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60196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97386"/>
                </a:solidFill>
                <a:latin typeface="Aptos Mono"/>
              </a:rPr>
              <a:t>ROBOT GYM  / 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660196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97386"/>
                </a:solidFill>
                <a:latin typeface="Aptos Mono"/>
              </a:rPr>
              <a:t>PROOF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60196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5F7FA"/>
                </a:solidFill>
                <a:latin typeface="Apto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A9CFF"/>
                </a:solidFill>
                <a:latin typeface="Aptos Mono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7FA"/>
                </a:solidFill>
                <a:latin typeface="Aptos"/>
              </a:rPr>
              <a:t>Land as evaluation infrastructure.
Expand through data and events.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7232" y="438912"/>
            <a:ext cx="1225296" cy="292608"/>
          </a:xfrm>
          <a:prstGeom prst="roundRect">
            <a:avLst>
              <a:gd name="adj" fmla="val 12000"/>
            </a:avLst>
          </a:prstGeom>
          <a:solidFill>
            <a:srgbClr val="F4C95D"/>
          </a:solidFill>
          <a:ln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57232" y="493776"/>
            <a:ext cx="12252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0B10"/>
                </a:solidFill>
                <a:latin typeface="Aptos Mono"/>
              </a:rPr>
              <a:t>PROPOSED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0370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A9CFF"/>
                </a:solidFill>
                <a:latin typeface="Aptos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5" y="2185416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97386"/>
                </a:solidFill>
                <a:latin typeface="Aptos Mono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9152" y="2130552"/>
            <a:ext cx="36758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7FA"/>
                </a:solidFill>
                <a:latin typeface="Aptos"/>
              </a:rPr>
              <a:t>Annual team / enterprise subscription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30552"/>
            <a:ext cx="466344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6AFBE"/>
                </a:solidFill>
                <a:latin typeface="Aptos"/>
              </a:rPr>
              <a:t>Private arenas, model adapters, benchmark management and collaboration.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" y="2889504"/>
            <a:ext cx="10616184" cy="9144"/>
          </a:xfrm>
          <a:prstGeom prst="rect">
            <a:avLst/>
          </a:prstGeom>
          <a:solidFill>
            <a:srgbClr val="27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374136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A9CFF"/>
                </a:solidFill>
                <a:latin typeface="Aptos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3355848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97386"/>
                </a:solidFill>
                <a:latin typeface="Aptos Mono"/>
              </a:rPr>
              <a:t>COMPUTE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3300984"/>
            <a:ext cx="36758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7FA"/>
                </a:solidFill>
                <a:latin typeface="Aptos"/>
              </a:rPr>
              <a:t>Metered simulation and replay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300984"/>
            <a:ext cx="466344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6AFBE"/>
                </a:solidFill>
                <a:latin typeface="Aptos"/>
              </a:rPr>
              <a:t>Hosted matches, accelerated scenario runs and evidence retention.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" y="4059936"/>
            <a:ext cx="10616184" cy="9144"/>
          </a:xfrm>
          <a:prstGeom prst="rect">
            <a:avLst/>
          </a:prstGeom>
          <a:solidFill>
            <a:srgbClr val="27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54456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A9CFF"/>
                </a:solidFill>
                <a:latin typeface="Aptos Mon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4526280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97386"/>
                </a:solidFill>
                <a:latin typeface="Aptos Mono"/>
              </a:rPr>
              <a:t>PROGRAMS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9152" y="4471416"/>
            <a:ext cx="36758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7FA"/>
                </a:solidFill>
                <a:latin typeface="Aptos"/>
              </a:rPr>
              <a:t>Benchmarks, tournaments and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471416"/>
            <a:ext cx="466344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6AFBE"/>
                </a:solidFill>
                <a:latin typeface="Aptos"/>
              </a:rPr>
              <a:t>Custom evaluation suites, partner challenges and failure analysis.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" y="5230368"/>
            <a:ext cx="10616184" cy="9144"/>
          </a:xfrm>
          <a:prstGeom prst="rect">
            <a:avLst/>
          </a:prstGeom>
          <a:solidFill>
            <a:srgbClr val="27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" y="5742432"/>
            <a:ext cx="11137392" cy="438912"/>
          </a:xfrm>
          <a:prstGeom prst="roundRect">
            <a:avLst>
              <a:gd name="adj" fmla="val 12000"/>
            </a:avLst>
          </a:prstGeom>
          <a:solidFill>
            <a:srgbClr val="111722"/>
          </a:solidFill>
          <a:ln>
            <a:solidFill>
              <a:srgbClr val="111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870448"/>
            <a:ext cx="10469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F7FA"/>
                </a:solidFill>
                <a:latin typeface="Aptos"/>
              </a:rPr>
              <a:t>Initial buyer: robotics labs and embodied-AI teams that need repeatable cross-model evaluation.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6556248"/>
            <a:ext cx="10881360" cy="9144"/>
          </a:xfrm>
          <a:prstGeom prst="rect">
            <a:avLst/>
          </a:prstGeom>
          <a:solidFill>
            <a:srgbClr val="27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60196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97386"/>
                </a:solidFill>
                <a:latin typeface="Aptos Mono"/>
              </a:rPr>
              <a:t>ROBOT GYM  /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660196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97386"/>
                </a:solidFill>
                <a:latin typeface="Aptos Mono"/>
              </a:rPr>
              <a:t>BUSINESS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65992" y="660196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5F7FA"/>
                </a:solidFill>
                <a:latin typeface="Apto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4B38"/>
                </a:solidFill>
                <a:latin typeface="Aptos Mono"/>
              </a:rPr>
              <a:t>GO TO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7FA"/>
                </a:solidFill>
                <a:latin typeface="Aptos"/>
              </a:rPr>
              <a:t>Start with teams that feel the pain.
Earn the audience after the signal.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2212848"/>
            <a:ext cx="3310128" cy="3310128"/>
          </a:xfrm>
          <a:prstGeom prst="roundRect">
            <a:avLst>
              <a:gd name="adj" fmla="val 12000"/>
            </a:avLst>
          </a:prstGeom>
          <a:solidFill>
            <a:srgbClr val="111722"/>
          </a:solidFill>
          <a:ln>
            <a:solidFill>
              <a:srgbClr val="27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2450592"/>
            <a:ext cx="704088" cy="292608"/>
          </a:xfrm>
          <a:prstGeom prst="roundRect">
            <a:avLst>
              <a:gd name="adj" fmla="val 12000"/>
            </a:avLst>
          </a:prstGeom>
          <a:solidFill>
            <a:srgbClr val="4A9CFF"/>
          </a:solidFill>
          <a:ln>
            <a:solidFill>
              <a:srgbClr val="4A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05456"/>
            <a:ext cx="7040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0B10"/>
                </a:solidFill>
                <a:latin typeface="Aptos Mono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90672"/>
            <a:ext cx="281635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F7FA"/>
                </a:solidFill>
                <a:latin typeface="Aptos Mono"/>
              </a:rPr>
              <a:t>DESIGN PARTNERS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730752"/>
            <a:ext cx="27706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7FA"/>
                </a:solidFill>
                <a:latin typeface="Aptos"/>
              </a:rPr>
              <a:t>Robotics labs + model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407408"/>
            <a:ext cx="2761488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6AFBE"/>
                </a:solidFill>
                <a:latin typeface="Aptos"/>
              </a:rPr>
              <a:t>Install the arena, define one decision-critical benchmark, measure iteration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212848"/>
            <a:ext cx="3310128" cy="3310128"/>
          </a:xfrm>
          <a:prstGeom prst="roundRect">
            <a:avLst>
              <a:gd name="adj" fmla="val 12000"/>
            </a:avLst>
          </a:prstGeom>
          <a:solidFill>
            <a:srgbClr val="111722"/>
          </a:solidFill>
          <a:ln>
            <a:solidFill>
              <a:srgbClr val="27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2450592"/>
            <a:ext cx="704088" cy="292608"/>
          </a:xfrm>
          <a:prstGeom prst="roundRect">
            <a:avLst>
              <a:gd name="adj" fmla="val 12000"/>
            </a:avLst>
          </a:prstGeom>
          <a:solidFill>
            <a:srgbClr val="F4C95D"/>
          </a:solidFill>
          <a:ln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505456"/>
            <a:ext cx="7040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0B10"/>
                </a:solidFill>
                <a:latin typeface="Aptos Mono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090672"/>
            <a:ext cx="281635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F7FA"/>
                </a:solidFill>
                <a:latin typeface="Aptos Mono"/>
              </a:rPr>
              <a:t>PUBLIC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730752"/>
            <a:ext cx="27706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7FA"/>
                </a:solidFill>
                <a:latin typeface="Aptos"/>
              </a:rPr>
              <a:t>Developers + research community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407408"/>
            <a:ext cx="2761488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6AFBE"/>
                </a:solidFill>
                <a:latin typeface="Aptos"/>
              </a:rPr>
              <a:t>Publish a task season, verified match evidence and a model-neutral leaderboard.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2212848"/>
            <a:ext cx="3310128" cy="3310128"/>
          </a:xfrm>
          <a:prstGeom prst="roundRect">
            <a:avLst>
              <a:gd name="adj" fmla="val 12000"/>
            </a:avLst>
          </a:prstGeom>
          <a:solidFill>
            <a:srgbClr val="171E2A"/>
          </a:solidFill>
          <a:ln>
            <a:solidFill>
              <a:srgbClr val="27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11312" y="2450592"/>
            <a:ext cx="704088" cy="292608"/>
          </a:xfrm>
          <a:prstGeom prst="roundRect">
            <a:avLst>
              <a:gd name="adj" fmla="val 12000"/>
            </a:avLst>
          </a:prstGeom>
          <a:solidFill>
            <a:srgbClr val="FF4B38"/>
          </a:solidFill>
          <a:ln>
            <a:solidFill>
              <a:srgbClr val="FF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2505456"/>
            <a:ext cx="7040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0B10"/>
                </a:solidFill>
                <a:latin typeface="Aptos Mono"/>
              </a:rPr>
              <a:t>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3090672"/>
            <a:ext cx="281635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F7FA"/>
                </a:solidFill>
                <a:latin typeface="Aptos Mono"/>
              </a:rPr>
              <a:t>PRIVATE ARENAS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730752"/>
            <a:ext cx="27706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7FA"/>
                </a:solidFill>
                <a:latin typeface="Aptos"/>
              </a:rPr>
              <a:t>Enterprises + robot OEMs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4407408"/>
            <a:ext cx="2761488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6AFBE"/>
                </a:solidFill>
                <a:latin typeface="Aptos"/>
              </a:rPr>
              <a:t>Sell proprietary scenarios, access control, fleet evaluation and hosted compute.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7044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97386"/>
                </a:solidFill>
                <a:latin typeface="Aptos Mono"/>
              </a:rPr>
              <a:t>North-star metric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77900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F7FA"/>
                </a:solidFill>
                <a:latin typeface="Aptos"/>
              </a:rPr>
              <a:t>Verified evaluation runs per active team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" y="6556248"/>
            <a:ext cx="10881360" cy="9144"/>
          </a:xfrm>
          <a:prstGeom prst="rect">
            <a:avLst/>
          </a:prstGeom>
          <a:solidFill>
            <a:srgbClr val="27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60196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97386"/>
                </a:solidFill>
                <a:latin typeface="Aptos Mono"/>
              </a:rPr>
              <a:t>ROBOT GYM  /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660196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97386"/>
                </a:solidFill>
                <a:latin typeface="Aptos Mono"/>
              </a:rPr>
              <a:t>GTM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60196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5F7FA"/>
                </a:solidFill>
                <a:latin typeface="Apto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4C95D"/>
                </a:solidFill>
                <a:latin typeface="Aptos Mono"/>
              </a:rPr>
              <a:t>DEFENSIBILITY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5F7FA"/>
                </a:solidFill>
                <a:latin typeface="Aptos"/>
              </a:rPr>
              <a:t>The moat compounds across four layers.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975104"/>
            <a:ext cx="566928" cy="621792"/>
          </a:xfrm>
          <a:prstGeom prst="roundRect">
            <a:avLst>
              <a:gd name="adj" fmla="val 12000"/>
            </a:avLst>
          </a:prstGeom>
          <a:solidFill>
            <a:srgbClr val="4A9CFF"/>
          </a:solidFill>
          <a:ln>
            <a:solidFill>
              <a:srgbClr val="4A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185416"/>
            <a:ext cx="5669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0B10"/>
                </a:solidFill>
                <a:latin typeface="Aptos Mon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2020824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F7FA"/>
                </a:solidFill>
                <a:latin typeface="Aptos Mono"/>
              </a:rPr>
              <a:t>SCENARIO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2002536"/>
            <a:ext cx="7040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6AFBE"/>
                </a:solidFill>
                <a:latin typeface="Aptos"/>
              </a:rPr>
              <a:t>A growing library of tasks, resets, constraints and win conditions.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53312" y="2651760"/>
            <a:ext cx="9802367" cy="9144"/>
          </a:xfrm>
          <a:prstGeom prst="rect">
            <a:avLst/>
          </a:prstGeom>
          <a:solidFill>
            <a:srgbClr val="27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" y="2935224"/>
            <a:ext cx="566928" cy="621792"/>
          </a:xfrm>
          <a:prstGeom prst="roundRect">
            <a:avLst>
              <a:gd name="adj" fmla="val 12000"/>
            </a:avLst>
          </a:prstGeom>
          <a:solidFill>
            <a:srgbClr val="55D6A5"/>
          </a:solidFill>
          <a:ln>
            <a:solidFill>
              <a:srgbClr val="55D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3145536"/>
            <a:ext cx="5669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0B10"/>
                </a:solidFill>
                <a:latin typeface="Aptos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980944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F7FA"/>
                </a:solidFill>
                <a:latin typeface="Aptos Mono"/>
              </a:rPr>
              <a:t>FAILURE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962656"/>
            <a:ext cx="7040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6AFBE"/>
                </a:solidFill>
                <a:latin typeface="Aptos"/>
              </a:rPr>
              <a:t>Comparable traces of perception, reasoning, control and recovery.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53312" y="3611880"/>
            <a:ext cx="9802367" cy="9144"/>
          </a:xfrm>
          <a:prstGeom prst="rect">
            <a:avLst/>
          </a:prstGeom>
          <a:solidFill>
            <a:srgbClr val="27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" y="3895344"/>
            <a:ext cx="566928" cy="621792"/>
          </a:xfrm>
          <a:prstGeom prst="roundRect">
            <a:avLst>
              <a:gd name="adj" fmla="val 12000"/>
            </a:avLst>
          </a:prstGeom>
          <a:solidFill>
            <a:srgbClr val="FF4B38"/>
          </a:solidFill>
          <a:ln>
            <a:solidFill>
              <a:srgbClr val="FF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4105656"/>
            <a:ext cx="5669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0B10"/>
                </a:solidFill>
                <a:latin typeface="Aptos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941063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F7FA"/>
                </a:solidFill>
                <a:latin typeface="Aptos Mono"/>
              </a:rPr>
              <a:t>CONTROL 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922776"/>
            <a:ext cx="7040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6AFBE"/>
                </a:solidFill>
                <a:latin typeface="Aptos"/>
              </a:rPr>
              <a:t>Hardware-shaped channels that make policy claims more honest.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53312" y="4572000"/>
            <a:ext cx="9802367" cy="9144"/>
          </a:xfrm>
          <a:prstGeom prst="rect">
            <a:avLst/>
          </a:prstGeom>
          <a:solidFill>
            <a:srgbClr val="27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0352" y="4855464"/>
            <a:ext cx="566928" cy="621792"/>
          </a:xfrm>
          <a:prstGeom prst="roundRect">
            <a:avLst>
              <a:gd name="adj" fmla="val 12000"/>
            </a:avLst>
          </a:prstGeom>
          <a:solidFill>
            <a:srgbClr val="F4C95D"/>
          </a:solidFill>
          <a:ln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65776"/>
            <a:ext cx="5669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0B10"/>
                </a:solidFill>
                <a:latin typeface="Aptos Mono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901184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F7FA"/>
                </a:solidFill>
                <a:latin typeface="Aptos Mono"/>
              </a:rPr>
              <a:t>COMPETITION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4882896"/>
            <a:ext cx="7040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6AFBE"/>
                </a:solidFill>
                <a:latin typeface="Aptos"/>
              </a:rPr>
              <a:t>Models, teams, spectators and partners improve the benchmark together.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53312" y="5532120"/>
            <a:ext cx="9802367" cy="9144"/>
          </a:xfrm>
          <a:prstGeom prst="rect">
            <a:avLst/>
          </a:prstGeom>
          <a:solidFill>
            <a:srgbClr val="27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30352" y="5897880"/>
            <a:ext cx="11137392" cy="301752"/>
          </a:xfrm>
          <a:prstGeom prst="roundRect">
            <a:avLst>
              <a:gd name="adj" fmla="val 12000"/>
            </a:avLst>
          </a:prstGeom>
          <a:solidFill>
            <a:srgbClr val="4A9CFF"/>
          </a:solidFill>
          <a:ln>
            <a:solidFill>
              <a:srgbClr val="4A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5971032"/>
            <a:ext cx="111373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80B10"/>
                </a:solidFill>
                <a:latin typeface="Aptos"/>
              </a:rPr>
              <a:t>Each match improves the product even when the underlying models change.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6556248"/>
            <a:ext cx="10881360" cy="9144"/>
          </a:xfrm>
          <a:prstGeom prst="rect">
            <a:avLst/>
          </a:prstGeom>
          <a:solidFill>
            <a:srgbClr val="27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60196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97386"/>
                </a:solidFill>
                <a:latin typeface="Aptos Mono"/>
              </a:rPr>
              <a:t>ROBOT GYM  /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660196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97386"/>
                </a:solidFill>
                <a:latin typeface="Aptos Mono"/>
              </a:rPr>
              <a:t>MOAT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660196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5F7FA"/>
                </a:solidFill>
                <a:latin typeface="Apto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5D6A5"/>
                </a:solidFill>
                <a:latin typeface="Aptos Mono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7FA"/>
                </a:solidFill>
                <a:latin typeface="Aptos"/>
              </a:rPr>
              <a:t>From one compelling race
to the evaluation layer for embodied AI.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2331720"/>
            <a:ext cx="3291839" cy="18288"/>
          </a:xfrm>
          <a:prstGeom prst="rect">
            <a:avLst/>
          </a:prstGeom>
          <a:solidFill>
            <a:srgbClr val="55D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58775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5D6A5"/>
                </a:solidFill>
                <a:latin typeface="Aptos Mono"/>
              </a:rPr>
              <a:t>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026664"/>
            <a:ext cx="312724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7FA"/>
                </a:solidFill>
                <a:latin typeface="Aptos"/>
              </a:rPr>
              <a:t>G1 DELIVERY ARENA</a:t>
            </a:r>
          </a:p>
        </p:txBody>
      </p:sp>
      <p:sp>
        <p:nvSpPr>
          <p:cNvPr id="7" name="Oval 6"/>
          <p:cNvSpPr/>
          <p:nvPr/>
        </p:nvSpPr>
        <p:spPr>
          <a:xfrm>
            <a:off x="530352" y="3968496"/>
            <a:ext cx="64008" cy="64008"/>
          </a:xfrm>
          <a:prstGeom prst="ellipse">
            <a:avLst/>
          </a:prstGeom>
          <a:solidFill>
            <a:srgbClr val="55D6A5"/>
          </a:solidFill>
          <a:ln w="12700">
            <a:solidFill>
              <a:srgbClr val="55D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3904487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7FA"/>
                </a:solidFill>
                <a:latin typeface="Aptos"/>
              </a:rPr>
              <a:t>Three match modes</a:t>
            </a:r>
          </a:p>
        </p:txBody>
      </p:sp>
      <p:sp>
        <p:nvSpPr>
          <p:cNvPr id="9" name="Oval 8"/>
          <p:cNvSpPr/>
          <p:nvPr/>
        </p:nvSpPr>
        <p:spPr>
          <a:xfrm>
            <a:off x="530352" y="4389120"/>
            <a:ext cx="64008" cy="64008"/>
          </a:xfrm>
          <a:prstGeom prst="ellipse">
            <a:avLst/>
          </a:prstGeom>
          <a:solidFill>
            <a:srgbClr val="55D6A5"/>
          </a:solidFill>
          <a:ln w="12700">
            <a:solidFill>
              <a:srgbClr val="55D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4325112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6AFBE"/>
                </a:solidFill>
                <a:latin typeface="Aptos"/>
              </a:rPr>
              <a:t>Model + human control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4809744"/>
            <a:ext cx="64008" cy="64008"/>
          </a:xfrm>
          <a:prstGeom prst="ellipse">
            <a:avLst/>
          </a:prstGeom>
          <a:solidFill>
            <a:srgbClr val="55D6A5"/>
          </a:solidFill>
          <a:ln w="12700">
            <a:solidFill>
              <a:srgbClr val="55D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4745736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6AFBE"/>
                </a:solidFill>
                <a:latin typeface="Aptos"/>
              </a:rPr>
              <a:t>RunPod deployment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5230368"/>
            <a:ext cx="64008" cy="64008"/>
          </a:xfrm>
          <a:prstGeom prst="ellipse">
            <a:avLst/>
          </a:prstGeom>
          <a:solidFill>
            <a:srgbClr val="55D6A5"/>
          </a:solidFill>
          <a:ln w="12700">
            <a:solidFill>
              <a:srgbClr val="55D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" y="5166359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6AFBE"/>
                </a:solidFill>
                <a:latin typeface="Aptos"/>
              </a:rPr>
              <a:t>Evidence capture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1104" y="2331720"/>
            <a:ext cx="3291839" cy="18288"/>
          </a:xfrm>
          <a:prstGeom prst="rect">
            <a:avLst/>
          </a:prstGeom>
          <a:solidFill>
            <a:srgbClr val="4A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1104" y="258775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A9CFF"/>
                </a:solidFill>
                <a:latin typeface="Aptos Mono"/>
              </a:rPr>
              <a:t>12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1104" y="3026664"/>
            <a:ext cx="312724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7FA"/>
                </a:solidFill>
                <a:latin typeface="Aptos"/>
              </a:rPr>
              <a:t>HOSTED BENCHMARK SUITE</a:t>
            </a:r>
          </a:p>
        </p:txBody>
      </p:sp>
      <p:sp>
        <p:nvSpPr>
          <p:cNvPr id="18" name="Oval 17"/>
          <p:cNvSpPr/>
          <p:nvPr/>
        </p:nvSpPr>
        <p:spPr>
          <a:xfrm>
            <a:off x="4261104" y="3968496"/>
            <a:ext cx="64008" cy="64008"/>
          </a:xfrm>
          <a:prstGeom prst="ellipse">
            <a:avLst/>
          </a:prstGeom>
          <a:solidFill>
            <a:srgbClr val="4A9CFF"/>
          </a:solidFill>
          <a:ln w="12700">
            <a:solidFill>
              <a:srgbClr val="4A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3904487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7FA"/>
                </a:solidFill>
                <a:latin typeface="Aptos"/>
              </a:rPr>
              <a:t>Accounts + private arenas</a:t>
            </a:r>
          </a:p>
        </p:txBody>
      </p:sp>
      <p:sp>
        <p:nvSpPr>
          <p:cNvPr id="20" name="Oval 19"/>
          <p:cNvSpPr/>
          <p:nvPr/>
        </p:nvSpPr>
        <p:spPr>
          <a:xfrm>
            <a:off x="4261104" y="4389120"/>
            <a:ext cx="64008" cy="64008"/>
          </a:xfrm>
          <a:prstGeom prst="ellipse">
            <a:avLst/>
          </a:prstGeom>
          <a:solidFill>
            <a:srgbClr val="4A9CFF"/>
          </a:solidFill>
          <a:ln w="12700">
            <a:solidFill>
              <a:srgbClr val="4A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4325112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6AFBE"/>
                </a:solidFill>
                <a:latin typeface="Aptos"/>
              </a:rPr>
              <a:t>Multi-task scenario library</a:t>
            </a:r>
          </a:p>
        </p:txBody>
      </p:sp>
      <p:sp>
        <p:nvSpPr>
          <p:cNvPr id="22" name="Oval 21"/>
          <p:cNvSpPr/>
          <p:nvPr/>
        </p:nvSpPr>
        <p:spPr>
          <a:xfrm>
            <a:off x="4261104" y="4809744"/>
            <a:ext cx="64008" cy="64008"/>
          </a:xfrm>
          <a:prstGeom prst="ellipse">
            <a:avLst/>
          </a:prstGeom>
          <a:solidFill>
            <a:srgbClr val="4A9CFF"/>
          </a:solidFill>
          <a:ln w="12700">
            <a:solidFill>
              <a:srgbClr val="4A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4745736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6AFBE"/>
                </a:solidFill>
                <a:latin typeface="Aptos"/>
              </a:rPr>
              <a:t>Verified leaderboards</a:t>
            </a:r>
          </a:p>
        </p:txBody>
      </p:sp>
      <p:sp>
        <p:nvSpPr>
          <p:cNvPr id="24" name="Oval 23"/>
          <p:cNvSpPr/>
          <p:nvPr/>
        </p:nvSpPr>
        <p:spPr>
          <a:xfrm>
            <a:off x="4261104" y="5230368"/>
            <a:ext cx="64008" cy="64008"/>
          </a:xfrm>
          <a:prstGeom prst="ellipse">
            <a:avLst/>
          </a:prstGeom>
          <a:solidFill>
            <a:srgbClr val="4A9CFF"/>
          </a:solidFill>
          <a:ln w="12700">
            <a:solidFill>
              <a:srgbClr val="4A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2" y="5166359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6AFBE"/>
                </a:solidFill>
                <a:latin typeface="Aptos"/>
              </a:rPr>
              <a:t>Design-partner pilots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91856" y="2331720"/>
            <a:ext cx="3291839" cy="18288"/>
          </a:xfrm>
          <a:prstGeom prst="rect">
            <a:avLst/>
          </a:prstGeom>
          <a:solidFill>
            <a:srgbClr val="FF4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58775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4B38"/>
                </a:solidFill>
                <a:latin typeface="Aptos Mono"/>
              </a:rPr>
              <a:t>24 MONTHS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1856" y="3026664"/>
            <a:ext cx="312724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7FA"/>
                </a:solidFill>
                <a:latin typeface="Aptos"/>
              </a:rPr>
              <a:t>HARDWARE-BACKED NETWORK</a:t>
            </a:r>
          </a:p>
        </p:txBody>
      </p:sp>
      <p:sp>
        <p:nvSpPr>
          <p:cNvPr id="29" name="Oval 28"/>
          <p:cNvSpPr/>
          <p:nvPr/>
        </p:nvSpPr>
        <p:spPr>
          <a:xfrm>
            <a:off x="7991856" y="3968496"/>
            <a:ext cx="64008" cy="64008"/>
          </a:xfrm>
          <a:prstGeom prst="ellipse">
            <a:avLst/>
          </a:prstGeom>
          <a:solidFill>
            <a:srgbClr val="FF4B38"/>
          </a:solidFill>
          <a:ln w="12700">
            <a:solidFill>
              <a:srgbClr val="FF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3024" y="3904487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7FA"/>
                </a:solidFill>
                <a:latin typeface="Aptos"/>
              </a:rPr>
              <a:t>Real-unit adapter validation</a:t>
            </a:r>
          </a:p>
        </p:txBody>
      </p:sp>
      <p:sp>
        <p:nvSpPr>
          <p:cNvPr id="31" name="Oval 30"/>
          <p:cNvSpPr/>
          <p:nvPr/>
        </p:nvSpPr>
        <p:spPr>
          <a:xfrm>
            <a:off x="7991856" y="4389120"/>
            <a:ext cx="64008" cy="64008"/>
          </a:xfrm>
          <a:prstGeom prst="ellipse">
            <a:avLst/>
          </a:prstGeom>
          <a:solidFill>
            <a:srgbClr val="FF4B38"/>
          </a:solidFill>
          <a:ln w="12700">
            <a:solidFill>
              <a:srgbClr val="FF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3024" y="4325112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6AFBE"/>
                </a:solidFill>
                <a:latin typeface="Aptos"/>
              </a:rPr>
              <a:t>Partner robot profiles</a:t>
            </a:r>
          </a:p>
        </p:txBody>
      </p:sp>
      <p:sp>
        <p:nvSpPr>
          <p:cNvPr id="33" name="Oval 32"/>
          <p:cNvSpPr/>
          <p:nvPr/>
        </p:nvSpPr>
        <p:spPr>
          <a:xfrm>
            <a:off x="7991856" y="4809744"/>
            <a:ext cx="64008" cy="64008"/>
          </a:xfrm>
          <a:prstGeom prst="ellipse">
            <a:avLst/>
          </a:prstGeom>
          <a:solidFill>
            <a:srgbClr val="FF4B38"/>
          </a:solidFill>
          <a:ln w="12700">
            <a:solidFill>
              <a:srgbClr val="FF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3024" y="4745736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6AFBE"/>
                </a:solidFill>
                <a:latin typeface="Aptos"/>
              </a:rPr>
              <a:t>Tournament seasons</a:t>
            </a:r>
          </a:p>
        </p:txBody>
      </p:sp>
      <p:sp>
        <p:nvSpPr>
          <p:cNvPr id="35" name="Oval 34"/>
          <p:cNvSpPr/>
          <p:nvPr/>
        </p:nvSpPr>
        <p:spPr>
          <a:xfrm>
            <a:off x="7991856" y="5230368"/>
            <a:ext cx="64008" cy="64008"/>
          </a:xfrm>
          <a:prstGeom prst="ellipse">
            <a:avLst/>
          </a:prstGeom>
          <a:solidFill>
            <a:srgbClr val="FF4B38"/>
          </a:solidFill>
          <a:ln w="12700">
            <a:solidFill>
              <a:srgbClr val="FF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93024" y="5166359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6AFBE"/>
                </a:solidFill>
                <a:latin typeface="Aptos"/>
              </a:rPr>
              <a:t>Enterprise evaluation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998464"/>
            <a:ext cx="973836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97386"/>
                </a:solidFill>
                <a:latin typeface="Aptos"/>
              </a:rPr>
              <a:t>Milestones are proposed and subject to customer discovery, funding and hardware partner access.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" y="6556248"/>
            <a:ext cx="10881360" cy="9144"/>
          </a:xfrm>
          <a:prstGeom prst="rect">
            <a:avLst/>
          </a:prstGeom>
          <a:solidFill>
            <a:srgbClr val="27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60196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97386"/>
                </a:solidFill>
                <a:latin typeface="Aptos Mono"/>
              </a:rPr>
              <a:t>ROBOT GYM  /  CONFIDENTIAL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660196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97386"/>
                </a:solidFill>
                <a:latin typeface="Aptos Mono"/>
              </a:rPr>
              <a:t>ROADMAP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65992" y="660196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5F7FA"/>
                </a:solidFill>
                <a:latin typeface="Apto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4B38"/>
          </a:solidFill>
          <a:ln>
            <a:solidFill>
              <a:srgbClr val="FF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4B38"/>
                </a:solidFill>
                <a:latin typeface="Aptos Mono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79552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5F7FA"/>
                </a:solidFill>
                <a:latin typeface="Aptos"/>
              </a:rPr>
              <a:t>Help turn robot evaluation
into a live, trusted market.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724912"/>
            <a:ext cx="6217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DC6FF"/>
                </a:solidFill>
                <a:latin typeface="Aptos"/>
              </a:rPr>
              <a:t>Seeking pre-seed capital and design partners.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712463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97386"/>
                </a:solidFill>
                <a:latin typeface="Aptos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3675887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5F7FA"/>
                </a:solidFill>
                <a:latin typeface="Aptos Mono"/>
              </a:rPr>
              <a:t>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675887"/>
            <a:ext cx="4206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6AFBE"/>
                </a:solidFill>
                <a:latin typeface="Aptos"/>
              </a:rPr>
              <a:t>Hosted platform, scenario tooling and evidence 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70831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97386"/>
                </a:solidFill>
                <a:latin typeface="Aptos Mon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4334255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5F7FA"/>
                </a:solidFill>
                <a:latin typeface="Aptos Mono"/>
              </a:rPr>
              <a:t>ROBOTICS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334255"/>
            <a:ext cx="4206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6AFBE"/>
                </a:solidFill>
                <a:latin typeface="Aptos"/>
              </a:rPr>
              <a:t>Benchmark design, controls validation and hardware 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029199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97386"/>
                </a:solidFill>
                <a:latin typeface="Aptos Mono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4992623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5F7FA"/>
                </a:solidFill>
                <a:latin typeface="Aptos Mono"/>
              </a:rPr>
              <a:t>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992623"/>
            <a:ext cx="4206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6AFBE"/>
                </a:solidFill>
                <a:latin typeface="Aptos"/>
              </a:rPr>
              <a:t>Design partners, flagship challenge and community</a:t>
            </a:r>
          </a:p>
        </p:txBody>
      </p:sp>
      <p:pic>
        <p:nvPicPr>
          <p:cNvPr id="15" name="Picture 14" descr="arena-poster.jpg"/>
          <p:cNvPicPr>
            <a:picLocks noChangeAspect="1"/>
          </p:cNvPicPr>
          <p:nvPr/>
        </p:nvPicPr>
        <p:blipFill>
          <a:blip r:embed="rId2"/>
          <a:srcRect l="26214" r="26214"/>
          <a:stretch>
            <a:fillRect/>
          </a:stretch>
        </p:blipFill>
        <p:spPr>
          <a:xfrm>
            <a:off x="7516368" y="713232"/>
            <a:ext cx="4160520" cy="491947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516368" y="713232"/>
            <a:ext cx="4160520" cy="4919472"/>
          </a:xfrm>
          <a:prstGeom prst="rect">
            <a:avLst/>
          </a:prstGeom>
          <a:solidFill>
            <a:srgbClr val="080B10">
              <a:alpha val="22000"/>
            </a:srgbClr>
          </a:solidFill>
          <a:ln>
            <a:solidFill>
              <a:srgbClr val="080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90688" y="4443984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080B10">
              <a:alpha val="92000"/>
            </a:srgbClr>
          </a:solidFill>
          <a:ln>
            <a:solidFill>
              <a:srgbClr val="27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654296"/>
            <a:ext cx="31089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F7FA"/>
                </a:solidFill>
                <a:latin typeface="Aptos"/>
              </a:rPr>
              <a:t>KAUSHIK SIVAKUMAR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983480"/>
            <a:ext cx="3108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4A9CFF"/>
                </a:solidFill>
                <a:latin typeface="Aptos Mono"/>
              </a:rPr>
              <a:t>FOUNDER  /  ROBOT GYM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08076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5F7FA"/>
                </a:solidFill>
                <a:latin typeface="Aptos"/>
              </a:rPr>
              <a:t>github.com/KaushikSiva/robot-gym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6368" y="6053328"/>
            <a:ext cx="4160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4B38"/>
                </a:solidFill>
                <a:latin typeface="Aptos Mono"/>
              </a:rPr>
              <a:t>LET’S BUILD THE ARENA.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" y="6556248"/>
            <a:ext cx="10881360" cy="9144"/>
          </a:xfrm>
          <a:prstGeom prst="rect">
            <a:avLst/>
          </a:prstGeom>
          <a:solidFill>
            <a:srgbClr val="27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60196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97386"/>
                </a:solidFill>
                <a:latin typeface="Aptos Mono"/>
              </a:rPr>
              <a:t>ROBOT GYM  /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660196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97386"/>
                </a:solidFill>
                <a:latin typeface="Aptos Mono"/>
              </a:rPr>
              <a:t>CONTACT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65992" y="660196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5F7FA"/>
                </a:solidFill>
                <a:latin typeface="Aptos Mono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Gym — Investor Pitch</dc:title>
  <dc:subject>Competitive infrastructure for embodied AI</dc:subject>
  <dc:creator>Kaushik Sivakumar</dc:creator>
  <cp:keywords>robotics, embodied AI, Unitree G1, VLGE, MuJoCo, investor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